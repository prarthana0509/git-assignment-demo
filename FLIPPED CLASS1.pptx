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4" r:id="rId6"/>
    <p:sldId id="263" r:id="rId7"/>
    <p:sldId id="260" r:id="rId8"/>
    <p:sldId id="261" r:id="rId9"/>
    <p:sldId id="262" r:id="rId10"/>
  </p:sldIdLst>
  <p:sldSz cx="12192000" cy="6858000"/>
  <p:notesSz cx="6858000" cy="9144000"/>
  <p:embeddedFontLst>
    <p:embeddedFont>
      <p:font typeface="Poppins" panose="00000500000000000000"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49">
          <p15:clr>
            <a:srgbClr val="A4A3A4"/>
          </p15:clr>
        </p15:guide>
        <p15:guide id="2" pos="232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ibofkq+TQC0wD2VwqvaOQPQwfS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8605BD-8D62-47B2-A258-D1F3C540B660}">
  <a:tblStyle styleId="{AE8605BD-8D62-47B2-A258-D1F3C540B66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b="off" i="off"/>
      <a:tcStyle>
        <a:tcBdr/>
        <a:fill>
          <a:solidFill>
            <a:srgbClr val="D0DEEF"/>
          </a:solidFill>
        </a:fill>
      </a:tcStyle>
    </a:band1H>
    <a:band2H>
      <a:tcTxStyle b="off" i="off"/>
      <a:tcStyle>
        <a:tcBdr/>
      </a:tcStyle>
    </a:band2H>
    <a:band1V>
      <a:tcTxStyle b="off" i="off"/>
      <a:tcStyle>
        <a:tcBdr/>
        <a:fill>
          <a:solidFill>
            <a:srgbClr val="D0DEEF"/>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1049"/>
        <p:guide pos="232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Poppins"/>
                <a:ea typeface="Poppins"/>
                <a:cs typeface="Poppins"/>
                <a:sym typeface="Poppins"/>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Poppins"/>
                <a:ea typeface="Poppins"/>
                <a:cs typeface="Poppins"/>
                <a:sym typeface="Poppins"/>
              </a:rPr>
              <a:t>‹#›</a:t>
            </a:fld>
            <a:endParaRPr sz="1200" b="0" i="0" u="none" strike="noStrike" cap="none">
              <a:solidFill>
                <a:schemeClr val="dk1"/>
              </a:solidFill>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7b21b4dbe1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g37b21b4dbe1_0_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g37b21b4dbe1_0_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 name="Google Shape;11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CFDD9DB4-5E88-15F6-A093-6A74613AED13}"/>
            </a:ext>
          </a:extLst>
        </p:cNvPr>
        <p:cNvGrpSpPr/>
        <p:nvPr/>
      </p:nvGrpSpPr>
      <p:grpSpPr>
        <a:xfrm>
          <a:off x="0" y="0"/>
          <a:ext cx="0" cy="0"/>
          <a:chOff x="0" y="0"/>
          <a:chExt cx="0" cy="0"/>
        </a:xfrm>
      </p:grpSpPr>
      <p:sp>
        <p:nvSpPr>
          <p:cNvPr id="125" name="Google Shape;125;p16:notes">
            <a:extLst>
              <a:ext uri="{FF2B5EF4-FFF2-40B4-BE49-F238E27FC236}">
                <a16:creationId xmlns:a16="http://schemas.microsoft.com/office/drawing/2014/main" id="{E4E20B77-1836-C743-7FC5-C6D20E247C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6:notes">
            <a:extLst>
              <a:ext uri="{FF2B5EF4-FFF2-40B4-BE49-F238E27FC236}">
                <a16:creationId xmlns:a16="http://schemas.microsoft.com/office/drawing/2014/main" id="{6A4CAE31-2FA6-EC2D-94DD-FC6821BFD98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16:notes">
            <a:extLst>
              <a:ext uri="{FF2B5EF4-FFF2-40B4-BE49-F238E27FC236}">
                <a16:creationId xmlns:a16="http://schemas.microsoft.com/office/drawing/2014/main" id="{0C43C986-1676-60FC-B15D-E20343C3779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5</a:t>
            </a:fld>
            <a:endParaRPr/>
          </a:p>
        </p:txBody>
      </p:sp>
    </p:spTree>
    <p:extLst>
      <p:ext uri="{BB962C8B-B14F-4D97-AF65-F5344CB8AC3E}">
        <p14:creationId xmlns:p14="http://schemas.microsoft.com/office/powerpoint/2010/main" val="3758183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14F07344-C9A8-5121-C7FA-873CBA1BA6B9}"/>
            </a:ext>
          </a:extLst>
        </p:cNvPr>
        <p:cNvGrpSpPr/>
        <p:nvPr/>
      </p:nvGrpSpPr>
      <p:grpSpPr>
        <a:xfrm>
          <a:off x="0" y="0"/>
          <a:ext cx="0" cy="0"/>
          <a:chOff x="0" y="0"/>
          <a:chExt cx="0" cy="0"/>
        </a:xfrm>
      </p:grpSpPr>
      <p:sp>
        <p:nvSpPr>
          <p:cNvPr id="125" name="Google Shape;125;p16:notes">
            <a:extLst>
              <a:ext uri="{FF2B5EF4-FFF2-40B4-BE49-F238E27FC236}">
                <a16:creationId xmlns:a16="http://schemas.microsoft.com/office/drawing/2014/main" id="{9F2F4186-D27C-8EF0-CFAE-078004A666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6:notes">
            <a:extLst>
              <a:ext uri="{FF2B5EF4-FFF2-40B4-BE49-F238E27FC236}">
                <a16:creationId xmlns:a16="http://schemas.microsoft.com/office/drawing/2014/main" id="{8A1C10AC-2ECB-5A8E-747C-B4FF4A5B0C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 name="Google Shape;127;p16:notes">
            <a:extLst>
              <a:ext uri="{FF2B5EF4-FFF2-40B4-BE49-F238E27FC236}">
                <a16:creationId xmlns:a16="http://schemas.microsoft.com/office/drawing/2014/main" id="{D9350F71-228C-4E3E-16CF-583F96B912D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6</a:t>
            </a:fld>
            <a:endParaRPr/>
          </a:p>
        </p:txBody>
      </p:sp>
    </p:spTree>
    <p:extLst>
      <p:ext uri="{BB962C8B-B14F-4D97-AF65-F5344CB8AC3E}">
        <p14:creationId xmlns:p14="http://schemas.microsoft.com/office/powerpoint/2010/main" val="2773114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b3c294deec_0_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g3b3c294deec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3b3c294deec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b3c294dee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b3c294dee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b3c294dee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2"/>
          <p:cNvSpPr>
            <a:spLocks noGrp="1"/>
          </p:cNvSpPr>
          <p:nvPr>
            <p:ph type="pic" idx="2"/>
          </p:nvPr>
        </p:nvSpPr>
        <p:spPr>
          <a:xfrm>
            <a:off x="5183188" y="987425"/>
            <a:ext cx="6172200" cy="4873625"/>
          </a:xfrm>
          <a:prstGeom prst="rect">
            <a:avLst/>
          </a:prstGeom>
          <a:noFill/>
          <a:ln>
            <a:noFill/>
          </a:ln>
        </p:spPr>
      </p:sp>
      <p:sp>
        <p:nvSpPr>
          <p:cNvPr id="62" name="Google Shape;62;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84" name="Google Shape;84;p1"/>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85" name="Google Shape;85;p1"/>
          <p:cNvGrpSpPr/>
          <p:nvPr/>
        </p:nvGrpSpPr>
        <p:grpSpPr>
          <a:xfrm>
            <a:off x="0" y="1474475"/>
            <a:ext cx="2179450" cy="3049275"/>
            <a:chOff x="122" y="2322"/>
            <a:chExt cx="3588" cy="4802"/>
          </a:xfrm>
        </p:grpSpPr>
        <p:sp>
          <p:nvSpPr>
            <p:cNvPr id="86" name="Google Shape;86;p1"/>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87" name="Google Shape;87;p1"/>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88" name="Google Shape;88;p1"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89" name="Google Shape;89;p1"/>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90" name="Google Shape;90;p1"/>
          <p:cNvSpPr txBox="1"/>
          <p:nvPr/>
        </p:nvSpPr>
        <p:spPr>
          <a:xfrm>
            <a:off x="2951525" y="1670613"/>
            <a:ext cx="7772400" cy="8604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4000"/>
              <a:buFont typeface="Calibri"/>
              <a:buNone/>
            </a:pPr>
            <a:r>
              <a:rPr lang="en-IN" sz="4000" b="1" i="0" u="none" strike="noStrike" cap="none" dirty="0">
                <a:solidFill>
                  <a:schemeClr val="dk1"/>
                </a:solidFill>
                <a:latin typeface="Calibri"/>
                <a:ea typeface="Calibri"/>
                <a:cs typeface="Calibri"/>
                <a:sym typeface="Calibri"/>
              </a:rPr>
              <a:t>DIRECTORY IMPLEMENTATION</a:t>
            </a:r>
            <a:endParaRPr sz="4000" b="1" i="0" u="none" strike="noStrike" cap="none" dirty="0">
              <a:solidFill>
                <a:schemeClr val="dk1"/>
              </a:solidFill>
              <a:latin typeface="Calibri"/>
              <a:ea typeface="Calibri"/>
              <a:cs typeface="Calibri"/>
              <a:sym typeface="Calibri"/>
            </a:endParaRPr>
          </a:p>
        </p:txBody>
      </p:sp>
      <p:sp>
        <p:nvSpPr>
          <p:cNvPr id="91" name="Google Shape;91;p1"/>
          <p:cNvSpPr txBox="1"/>
          <p:nvPr/>
        </p:nvSpPr>
        <p:spPr>
          <a:xfrm>
            <a:off x="4828500" y="1051163"/>
            <a:ext cx="4208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1" u="none" strike="noStrike" cap="none">
                <a:solidFill>
                  <a:schemeClr val="dk1"/>
                </a:solidFill>
                <a:latin typeface="Calibri"/>
                <a:ea typeface="Calibri"/>
                <a:cs typeface="Calibri"/>
                <a:sym typeface="Calibri"/>
              </a:rPr>
              <a:t> </a:t>
            </a:r>
            <a:r>
              <a:rPr lang="en-IN" sz="1800" i="1">
                <a:solidFill>
                  <a:schemeClr val="dk1"/>
                </a:solidFill>
                <a:latin typeface="Calibri"/>
                <a:ea typeface="Calibri"/>
                <a:cs typeface="Calibri"/>
                <a:sym typeface="Calibri"/>
              </a:rPr>
              <a:t>Flipped class</a:t>
            </a:r>
            <a:r>
              <a:rPr lang="en-IN" sz="1800" b="0" i="1" u="none" strike="noStrike" cap="none">
                <a:solidFill>
                  <a:schemeClr val="dk1"/>
                </a:solidFill>
                <a:latin typeface="Calibri"/>
                <a:ea typeface="Calibri"/>
                <a:cs typeface="Calibri"/>
                <a:sym typeface="Calibri"/>
              </a:rPr>
              <a:t> Presentation on</a:t>
            </a:r>
            <a:endParaRPr sz="1800" b="0" i="1" u="none" strike="noStrike" cap="none">
              <a:solidFill>
                <a:schemeClr val="dk1"/>
              </a:solidFill>
              <a:latin typeface="Calibri"/>
              <a:ea typeface="Calibri"/>
              <a:cs typeface="Calibri"/>
              <a:sym typeface="Calibri"/>
            </a:endParaRPr>
          </a:p>
        </p:txBody>
      </p:sp>
      <p:sp>
        <p:nvSpPr>
          <p:cNvPr id="92" name="Google Shape;92;p1"/>
          <p:cNvSpPr txBox="1"/>
          <p:nvPr/>
        </p:nvSpPr>
        <p:spPr>
          <a:xfrm>
            <a:off x="6103595" y="2470101"/>
            <a:ext cx="1424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0" i="1" u="none" strike="noStrike" cap="none">
                <a:solidFill>
                  <a:schemeClr val="dk1"/>
                </a:solidFill>
                <a:latin typeface="Calibri"/>
                <a:ea typeface="Calibri"/>
                <a:cs typeface="Calibri"/>
                <a:sym typeface="Calibri"/>
              </a:rPr>
              <a:t>Presented by</a:t>
            </a:r>
            <a:endParaRPr sz="1800" b="0" i="1" u="none" strike="noStrike" cap="none">
              <a:solidFill>
                <a:schemeClr val="dk1"/>
              </a:solidFill>
              <a:latin typeface="Calibri"/>
              <a:ea typeface="Calibri"/>
              <a:cs typeface="Calibri"/>
              <a:sym typeface="Calibri"/>
            </a:endParaRPr>
          </a:p>
        </p:txBody>
      </p:sp>
      <p:graphicFrame>
        <p:nvGraphicFramePr>
          <p:cNvPr id="93" name="Google Shape;93;p1"/>
          <p:cNvGraphicFramePr/>
          <p:nvPr>
            <p:extLst>
              <p:ext uri="{D42A27DB-BD31-4B8C-83A1-F6EECF244321}">
                <p14:modId xmlns:p14="http://schemas.microsoft.com/office/powerpoint/2010/main" val="3458938494"/>
              </p:ext>
            </p:extLst>
          </p:nvPr>
        </p:nvGraphicFramePr>
        <p:xfrm>
          <a:off x="2747559" y="3051067"/>
          <a:ext cx="8451150" cy="2595925"/>
        </p:xfrm>
        <a:graphic>
          <a:graphicData uri="http://schemas.openxmlformats.org/drawingml/2006/table">
            <a:tbl>
              <a:tblPr firstRow="1" bandRow="1">
                <a:noFill/>
                <a:tableStyleId>{AE8605BD-8D62-47B2-A258-D1F3C540B660}</a:tableStyleId>
              </a:tblPr>
              <a:tblGrid>
                <a:gridCol w="1357925">
                  <a:extLst>
                    <a:ext uri="{9D8B030D-6E8A-4147-A177-3AD203B41FA5}">
                      <a16:colId xmlns:a16="http://schemas.microsoft.com/office/drawing/2014/main" val="20000"/>
                    </a:ext>
                  </a:extLst>
                </a:gridCol>
                <a:gridCol w="4931725">
                  <a:extLst>
                    <a:ext uri="{9D8B030D-6E8A-4147-A177-3AD203B41FA5}">
                      <a16:colId xmlns:a16="http://schemas.microsoft.com/office/drawing/2014/main" val="20001"/>
                    </a:ext>
                  </a:extLst>
                </a:gridCol>
                <a:gridCol w="2161500">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solidFill>
                            <a:schemeClr val="dk1"/>
                          </a:solidFill>
                        </a:rPr>
                        <a:t>Group No</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solidFill>
                            <a:schemeClr val="dk1"/>
                          </a:solidFill>
                        </a:rPr>
                        <a:t>Name</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IN" sz="1800" u="none" strike="noStrike" cap="none">
                          <a:solidFill>
                            <a:schemeClr val="dk1"/>
                          </a:solidFill>
                        </a:rPr>
                        <a:t>USN</a:t>
                      </a:r>
                      <a:endParaRPr sz="1800" u="none" strike="noStrike" cap="none">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70850">
                <a:tc rowSpan="4">
                  <a:txBody>
                    <a:bodyPr/>
                    <a:lstStyle/>
                    <a:p>
                      <a:pPr marL="0" marR="0" lvl="0" indent="0" algn="ctr" rtl="0">
                        <a:lnSpc>
                          <a:spcPct val="100000"/>
                        </a:lnSpc>
                        <a:spcBef>
                          <a:spcPts val="0"/>
                        </a:spcBef>
                        <a:spcAft>
                          <a:spcPts val="0"/>
                        </a:spcAft>
                        <a:buClr>
                          <a:srgbClr val="000000"/>
                        </a:buClr>
                        <a:buSzPts val="3000"/>
                        <a:buFont typeface="Arial"/>
                        <a:buNone/>
                      </a:pPr>
                      <a:r>
                        <a:rPr lang="en-IN" sz="3000" b="1" u="none" strike="noStrike" cap="none" dirty="0">
                          <a:solidFill>
                            <a:schemeClr val="dk1"/>
                          </a:solidFill>
                        </a:rPr>
                        <a:t>9</a:t>
                      </a:r>
                      <a:endParaRPr sz="3000" b="1" u="none" strike="noStrike" cap="none" dirty="0">
                        <a:solidFill>
                          <a:schemeClr val="dk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dirty="0">
                          <a:solidFill>
                            <a:schemeClr val="dk1"/>
                          </a:solidFill>
                        </a:rPr>
                        <a:t>DEEPIKA P</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IN" sz="1800" u="none" strike="noStrike" cap="none" dirty="0">
                          <a:solidFill>
                            <a:schemeClr val="dk1"/>
                          </a:solidFill>
                        </a:rPr>
                        <a:t>1AY2</a:t>
                      </a:r>
                      <a:r>
                        <a:rPr lang="en-IN" sz="1800" dirty="0"/>
                        <a:t>4AI080</a:t>
                      </a:r>
                      <a:endParaRPr sz="1800"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70850">
                <a:tc vMerge="1">
                  <a:txBody>
                    <a:bodyPr/>
                    <a:lstStyle/>
                    <a:p>
                      <a:endParaRPr lang="en-US"/>
                    </a:p>
                  </a:txBody>
                  <a:tcPr/>
                </a:tc>
                <a:tc>
                  <a:txBody>
                    <a:bodyPr/>
                    <a:lstStyle/>
                    <a:p>
                      <a:pPr marL="0" lvl="0" indent="0" algn="l" rtl="0">
                        <a:spcBef>
                          <a:spcPts val="0"/>
                        </a:spcBef>
                        <a:spcAft>
                          <a:spcPts val="0"/>
                        </a:spcAft>
                        <a:buNone/>
                      </a:pPr>
                      <a:r>
                        <a:rPr lang="en-IN" sz="1800" dirty="0"/>
                        <a:t>YASHASWINI</a:t>
                      </a:r>
                      <a:endParaRPr sz="18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IN" sz="1800" dirty="0"/>
                        <a:t>1AY24AI116</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70850">
                <a:tc vMerge="1">
                  <a:txBody>
                    <a:bodyPr/>
                    <a:lstStyle/>
                    <a:p>
                      <a:endParaRPr lang="en-US"/>
                    </a:p>
                  </a:txBody>
                  <a:tcPr/>
                </a:tc>
                <a:tc>
                  <a:txBody>
                    <a:bodyPr/>
                    <a:lstStyle/>
                    <a:p>
                      <a:pPr marL="0" lvl="0" indent="0" algn="l" rtl="0">
                        <a:spcBef>
                          <a:spcPts val="0"/>
                        </a:spcBef>
                        <a:spcAft>
                          <a:spcPts val="0"/>
                        </a:spcAft>
                        <a:buNone/>
                      </a:pPr>
                      <a:r>
                        <a:rPr lang="en-IN" sz="1600" dirty="0"/>
                        <a:t>PRARTHANA KULKARNI</a:t>
                      </a:r>
                      <a:endParaRPr sz="16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IN" sz="1600" dirty="0"/>
                        <a:t>1AY24AI118</a:t>
                      </a:r>
                      <a:endParaRPr sz="1600"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vMerge="1">
                  <a:txBody>
                    <a:bodyPr/>
                    <a:lstStyle/>
                    <a:p>
                      <a:endParaRPr lang="en-US"/>
                    </a:p>
                  </a:txBody>
                  <a:tcPr/>
                </a:tc>
                <a:tc>
                  <a:txBody>
                    <a:bodyPr/>
                    <a:lstStyle/>
                    <a:p>
                      <a:pPr marL="0" lvl="0" indent="0" algn="l" rtl="0">
                        <a:spcBef>
                          <a:spcPts val="0"/>
                        </a:spcBef>
                        <a:spcAft>
                          <a:spcPts val="0"/>
                        </a:spcAft>
                        <a:buNone/>
                      </a:pP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741675">
                <a:tc gridSpan="3">
                  <a:txBody>
                    <a:bodyPr/>
                    <a:lstStyle/>
                    <a:p>
                      <a:pPr marL="0" marR="0" lvl="0" indent="0" algn="l" rtl="0">
                        <a:lnSpc>
                          <a:spcPct val="100000"/>
                        </a:lnSpc>
                        <a:spcBef>
                          <a:spcPts val="0"/>
                        </a:spcBef>
                        <a:spcAft>
                          <a:spcPts val="0"/>
                        </a:spcAft>
                        <a:buClr>
                          <a:srgbClr val="000000"/>
                        </a:buClr>
                        <a:buSzPts val="1800"/>
                        <a:buFont typeface="Arial"/>
                        <a:buNone/>
                      </a:pPr>
                      <a:r>
                        <a:rPr lang="en-IN" sz="1800" b="1" u="none" strike="noStrike" cap="none" dirty="0">
                          <a:solidFill>
                            <a:schemeClr val="dk1"/>
                          </a:solidFill>
                        </a:rPr>
                        <a:t>Guide Name: </a:t>
                      </a:r>
                      <a:r>
                        <a:rPr lang="en-IN" sz="1800" b="1" u="none" strike="noStrike" cap="none" dirty="0"/>
                        <a:t>Mr. Mohammed Tahir Mirji</a:t>
                      </a:r>
                      <a:endParaRPr sz="1400" u="none" strike="noStrike" cap="none" dirty="0"/>
                    </a:p>
                    <a:p>
                      <a:pPr marL="0" marR="0" lvl="0" indent="0" algn="l" rtl="0">
                        <a:lnSpc>
                          <a:spcPct val="100000"/>
                        </a:lnSpc>
                        <a:spcBef>
                          <a:spcPts val="0"/>
                        </a:spcBef>
                        <a:spcAft>
                          <a:spcPts val="0"/>
                        </a:spcAft>
                        <a:buClr>
                          <a:srgbClr val="000000"/>
                        </a:buClr>
                        <a:buSzPts val="1800"/>
                        <a:buFont typeface="Arial"/>
                        <a:buNone/>
                      </a:pPr>
                      <a:r>
                        <a:rPr lang="en-IN" sz="1800" b="1" u="none" strike="noStrike" cap="none" dirty="0">
                          <a:solidFill>
                            <a:schemeClr val="dk1"/>
                          </a:solidFill>
                        </a:rPr>
                        <a:t>Designation: Assist</a:t>
                      </a:r>
                      <a:r>
                        <a:rPr lang="en-IN" sz="1800" b="1" u="none" strike="noStrike" cap="none" dirty="0"/>
                        <a:t>ant Professor</a:t>
                      </a:r>
                      <a:endParaRPr sz="1800" b="1" u="none" strike="noStrike" cap="none" dirty="0">
                        <a:solidFill>
                          <a:schemeClr val="dk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94" name="Google Shape;94;p1"/>
          <p:cNvSpPr txBox="1"/>
          <p:nvPr/>
        </p:nvSpPr>
        <p:spPr>
          <a:xfrm>
            <a:off x="2667000" y="13677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IN" sz="2400" b="1" i="0" u="none" strike="noStrike" cap="none">
                <a:solidFill>
                  <a:schemeClr val="dk1"/>
                </a:solidFill>
                <a:latin typeface="Calibri"/>
                <a:ea typeface="Calibri"/>
                <a:cs typeface="Calibri"/>
                <a:sym typeface="Calibri"/>
              </a:rPr>
              <a:t>Department of </a:t>
            </a:r>
            <a:r>
              <a:rPr lang="en-IN" sz="2400" b="1">
                <a:solidFill>
                  <a:schemeClr val="dk1"/>
                </a:solidFill>
                <a:latin typeface="Calibri"/>
                <a:ea typeface="Calibri"/>
                <a:cs typeface="Calibri"/>
                <a:sym typeface="Calibri"/>
              </a:rPr>
              <a:t>Artificial Intelligence and Machine Learning</a:t>
            </a:r>
            <a:endParaRPr sz="24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IN" sz="2000" b="1" i="0" u="none" strike="noStrike" cap="none">
                <a:solidFill>
                  <a:schemeClr val="dk1"/>
                </a:solidFill>
                <a:latin typeface="Calibri"/>
                <a:ea typeface="Calibri"/>
                <a:cs typeface="Calibri"/>
                <a:sym typeface="Calibri"/>
              </a:rPr>
              <a:t>Acharya Institute of Technology</a:t>
            </a:r>
            <a:endParaRPr sz="20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600"/>
              <a:buFont typeface="Calibri"/>
              <a:buNone/>
            </a:pPr>
            <a:r>
              <a:rPr lang="en-IN" sz="1600" b="0" i="0" u="none" strike="noStrike" cap="none">
                <a:solidFill>
                  <a:schemeClr val="dk1"/>
                </a:solidFill>
                <a:latin typeface="Calibri"/>
                <a:ea typeface="Calibri"/>
                <a:cs typeface="Calibri"/>
                <a:sym typeface="Calibri"/>
              </a:rPr>
              <a:t>Soladevanahalli, Bengaluru 560 107</a:t>
            </a:r>
            <a:endParaRPr sz="20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g37b21b4dbe1_0_3"/>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01" name="Google Shape;101;g37b21b4dbe1_0_3"/>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02" name="Google Shape;102;g37b21b4dbe1_0_3"/>
          <p:cNvGrpSpPr/>
          <p:nvPr/>
        </p:nvGrpSpPr>
        <p:grpSpPr>
          <a:xfrm>
            <a:off x="0" y="1474475"/>
            <a:ext cx="2179450" cy="3049275"/>
            <a:chOff x="122" y="2322"/>
            <a:chExt cx="3588" cy="4802"/>
          </a:xfrm>
        </p:grpSpPr>
        <p:sp>
          <p:nvSpPr>
            <p:cNvPr id="103" name="Google Shape;103;g37b21b4dbe1_0_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04" name="Google Shape;104;g37b21b4dbe1_0_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05" name="Google Shape;105;g37b21b4dbe1_0_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06" name="Google Shape;106;g37b21b4dbe1_0_3"/>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07" name="Google Shape;107;g37b21b4dbe1_0_3"/>
          <p:cNvSpPr txBox="1"/>
          <p:nvPr/>
        </p:nvSpPr>
        <p:spPr>
          <a:xfrm>
            <a:off x="3198746" y="745625"/>
            <a:ext cx="70797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3200" b="1">
                <a:latin typeface="Times New Roman"/>
                <a:ea typeface="Times New Roman"/>
                <a:cs typeface="Times New Roman"/>
                <a:sym typeface="Times New Roman"/>
              </a:rPr>
              <a:t>Background of the topic</a:t>
            </a:r>
            <a:endParaRPr/>
          </a:p>
        </p:txBody>
      </p:sp>
      <p:sp>
        <p:nvSpPr>
          <p:cNvPr id="108" name="Google Shape;108;g37b21b4dbe1_0_3"/>
          <p:cNvSpPr txBox="1"/>
          <p:nvPr/>
        </p:nvSpPr>
        <p:spPr>
          <a:xfrm>
            <a:off x="2195700" y="1575225"/>
            <a:ext cx="9007500" cy="4739729"/>
          </a:xfrm>
          <a:prstGeom prst="rect">
            <a:avLst/>
          </a:prstGeom>
          <a:noFill/>
          <a:ln>
            <a:noFill/>
          </a:ln>
        </p:spPr>
        <p:txBody>
          <a:bodyPr spcFirstLastPara="1" wrap="square" lIns="91425" tIns="91425" rIns="91425" bIns="91425" anchor="t" anchorCtr="0">
            <a:spAutoFit/>
          </a:bodyPr>
          <a:lstStyle/>
          <a:p>
            <a:r>
              <a:rPr lang="en-US" sz="2000" dirty="0"/>
              <a:t>In an </a:t>
            </a:r>
            <a:r>
              <a:rPr lang="en-US" sz="2000" b="1" dirty="0"/>
              <a:t>Operating System</a:t>
            </a:r>
            <a:r>
              <a:rPr lang="en-US" sz="2000" dirty="0"/>
              <a:t>, efficient data management is essential for process handling, memory management, and file organization. </a:t>
            </a:r>
            <a:r>
              <a:rPr lang="en-US" sz="2000" b="1" dirty="0"/>
              <a:t>Linear lists</a:t>
            </a:r>
            <a:r>
              <a:rPr lang="en-US" sz="2000" dirty="0"/>
              <a:t> and </a:t>
            </a:r>
            <a:r>
              <a:rPr lang="en-US" sz="2000" b="1" dirty="0"/>
              <a:t>hash tables</a:t>
            </a:r>
            <a:r>
              <a:rPr lang="en-US" sz="2000" dirty="0"/>
              <a:t> are commonly used data structures to organize and access system data effectively.</a:t>
            </a:r>
          </a:p>
          <a:p>
            <a:r>
              <a:rPr lang="en-US" sz="2000" dirty="0"/>
              <a:t>A </a:t>
            </a:r>
            <a:r>
              <a:rPr lang="en-US" sz="2000" b="1" dirty="0"/>
              <a:t>linear list</a:t>
            </a:r>
            <a:r>
              <a:rPr lang="en-US" sz="2000" dirty="0"/>
              <a:t> maintains data in sequential order and is used in the OS for managing process lists, ready queues, and file control blocks. Its simple structure makes it suitable for ordered data processing.</a:t>
            </a:r>
          </a:p>
          <a:p>
            <a:r>
              <a:rPr lang="en-US" sz="2000" dirty="0"/>
              <a:t>A </a:t>
            </a:r>
            <a:r>
              <a:rPr lang="en-US" sz="2000" b="1" dirty="0"/>
              <a:t>hash table</a:t>
            </a:r>
            <a:r>
              <a:rPr lang="en-US" sz="2000" dirty="0"/>
              <a:t> provides fast access to data using a hash function and is used in operating systems for quick lookup of process IDs, page tables, and directory entries.</a:t>
            </a:r>
          </a:p>
          <a:p>
            <a:r>
              <a:rPr lang="en-US" sz="2000" dirty="0"/>
              <a:t>Thus, linear lists and hash tables play an important role in improving the performance and efficiency of operating system functions.</a:t>
            </a:r>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br>
              <a:rPr lang="en-IN" dirty="0"/>
            </a:b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5"/>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15" name="Google Shape;115;p15"/>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16" name="Google Shape;116;p15"/>
          <p:cNvGrpSpPr/>
          <p:nvPr/>
        </p:nvGrpSpPr>
        <p:grpSpPr>
          <a:xfrm>
            <a:off x="0" y="1474475"/>
            <a:ext cx="2179450" cy="3049275"/>
            <a:chOff x="122" y="2322"/>
            <a:chExt cx="3588" cy="4802"/>
          </a:xfrm>
        </p:grpSpPr>
        <p:sp>
          <p:nvSpPr>
            <p:cNvPr id="117" name="Google Shape;117;p15"/>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18" name="Google Shape;118;p15"/>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19" name="Google Shape;119;p15"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20" name="Google Shape;120;p15"/>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21" name="Google Shape;121;p15"/>
          <p:cNvSpPr txBox="1"/>
          <p:nvPr/>
        </p:nvSpPr>
        <p:spPr>
          <a:xfrm>
            <a:off x="2667000" y="13677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122" name="Google Shape;122;p15"/>
          <p:cNvSpPr txBox="1"/>
          <p:nvPr/>
        </p:nvSpPr>
        <p:spPr>
          <a:xfrm>
            <a:off x="3018733" y="889700"/>
            <a:ext cx="7079700"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3200" dirty="0"/>
              <a:t>LINEAR LIST</a:t>
            </a:r>
            <a:endParaRPr sz="3200" dirty="0"/>
          </a:p>
        </p:txBody>
      </p:sp>
      <p:pic>
        <p:nvPicPr>
          <p:cNvPr id="2" name="Picture 1">
            <a:extLst>
              <a:ext uri="{FF2B5EF4-FFF2-40B4-BE49-F238E27FC236}">
                <a16:creationId xmlns:a16="http://schemas.microsoft.com/office/drawing/2014/main" id="{4643E5E1-0818-E88C-2283-FA2E77158BBE}"/>
              </a:ext>
            </a:extLst>
          </p:cNvPr>
          <p:cNvPicPr>
            <a:picLocks noChangeAspect="1"/>
          </p:cNvPicPr>
          <p:nvPr/>
        </p:nvPicPr>
        <p:blipFill>
          <a:blip r:embed="rId4"/>
          <a:stretch>
            <a:fillRect/>
          </a:stretch>
        </p:blipFill>
        <p:spPr>
          <a:xfrm>
            <a:off x="3721608" y="1971673"/>
            <a:ext cx="5334000" cy="1457325"/>
          </a:xfrm>
          <a:prstGeom prst="rect">
            <a:avLst/>
          </a:prstGeom>
        </p:spPr>
      </p:pic>
      <p:sp>
        <p:nvSpPr>
          <p:cNvPr id="4" name="TextBox 3">
            <a:extLst>
              <a:ext uri="{FF2B5EF4-FFF2-40B4-BE49-F238E27FC236}">
                <a16:creationId xmlns:a16="http://schemas.microsoft.com/office/drawing/2014/main" id="{3FC1CA1E-F5D2-DDD6-3C7E-3382E056B4BF}"/>
              </a:ext>
            </a:extLst>
          </p:cNvPr>
          <p:cNvSpPr txBox="1"/>
          <p:nvPr/>
        </p:nvSpPr>
        <p:spPr>
          <a:xfrm>
            <a:off x="2414016" y="3689175"/>
            <a:ext cx="8339328" cy="2585323"/>
          </a:xfrm>
          <a:prstGeom prst="rect">
            <a:avLst/>
          </a:prstGeom>
          <a:noFill/>
        </p:spPr>
        <p:txBody>
          <a:bodyPr wrap="square">
            <a:spAutoFit/>
          </a:bodyPr>
          <a:lstStyle/>
          <a:p>
            <a:pPr>
              <a:buFont typeface="Arial" panose="020B0604020202020204" pitchFamily="34" charset="0"/>
              <a:buChar char="•"/>
            </a:pPr>
            <a:r>
              <a:rPr lang="en-US" sz="1800" dirty="0"/>
              <a:t>A linear list is a collection of data elements arranged in a sequential order.</a:t>
            </a:r>
          </a:p>
          <a:p>
            <a:pPr>
              <a:buFont typeface="Arial" panose="020B0604020202020204" pitchFamily="34" charset="0"/>
              <a:buChar char="•"/>
            </a:pPr>
            <a:r>
              <a:rPr lang="en-US" sz="1800" dirty="0"/>
              <a:t>Each element has a unique predecessor and successor, except the first and last elements.</a:t>
            </a:r>
          </a:p>
          <a:p>
            <a:pPr>
              <a:buFont typeface="Arial" panose="020B0604020202020204" pitchFamily="34" charset="0"/>
              <a:buChar char="•"/>
            </a:pPr>
            <a:r>
              <a:rPr lang="en-US" sz="1800" dirty="0"/>
              <a:t>Linear lists can be implemented using arrays or linked lists.</a:t>
            </a:r>
          </a:p>
          <a:p>
            <a:pPr>
              <a:buFont typeface="Arial" panose="020B0604020202020204" pitchFamily="34" charset="0"/>
              <a:buChar char="•"/>
            </a:pPr>
            <a:r>
              <a:rPr lang="en-US" sz="1800" dirty="0"/>
              <a:t>Common operations include insertion, deletion, traversal, and searching.</a:t>
            </a:r>
          </a:p>
          <a:p>
            <a:pPr>
              <a:buFont typeface="Arial" panose="020B0604020202020204" pitchFamily="34" charset="0"/>
              <a:buChar char="•"/>
            </a:pPr>
            <a:r>
              <a:rPr lang="en-US" sz="1800" dirty="0"/>
              <a:t>In operating systems, linear lists are used to manage process control blocks, ready and waiting queues, and file directories.</a:t>
            </a:r>
          </a:p>
          <a:p>
            <a:pPr>
              <a:buFont typeface="Arial" panose="020B0604020202020204" pitchFamily="34" charset="0"/>
              <a:buChar char="•"/>
            </a:pPr>
            <a:r>
              <a:rPr lang="en-US" sz="1800" dirty="0"/>
              <a:t>Searching in a linear list usually takes more time because elements are accessed sequentially.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6"/>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30" name="Google Shape;130;p16"/>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31" name="Google Shape;131;p16"/>
          <p:cNvGrpSpPr/>
          <p:nvPr/>
        </p:nvGrpSpPr>
        <p:grpSpPr>
          <a:xfrm>
            <a:off x="0" y="1474475"/>
            <a:ext cx="2179450" cy="3049275"/>
            <a:chOff x="122" y="2322"/>
            <a:chExt cx="3588" cy="4802"/>
          </a:xfrm>
        </p:grpSpPr>
        <p:sp>
          <p:nvSpPr>
            <p:cNvPr id="132" name="Google Shape;132;p16"/>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33" name="Google Shape;133;p16"/>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34" name="Google Shape;134;p16"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35" name="Google Shape;135;p16"/>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36" name="Google Shape;136;p16"/>
          <p:cNvSpPr txBox="1"/>
          <p:nvPr/>
        </p:nvSpPr>
        <p:spPr>
          <a:xfrm>
            <a:off x="2667000" y="13677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AD75AF11-44E2-F6CD-EEFE-ECE9A62ADF5E}"/>
              </a:ext>
            </a:extLst>
          </p:cNvPr>
          <p:cNvSpPr txBox="1"/>
          <p:nvPr/>
        </p:nvSpPr>
        <p:spPr>
          <a:xfrm>
            <a:off x="3026664" y="640080"/>
            <a:ext cx="6364224" cy="5262979"/>
          </a:xfrm>
          <a:prstGeom prst="rect">
            <a:avLst/>
          </a:prstGeom>
          <a:noFill/>
        </p:spPr>
        <p:txBody>
          <a:bodyPr wrap="square">
            <a:spAutoFit/>
          </a:bodyPr>
          <a:lstStyle/>
          <a:p>
            <a:pPr algn="l">
              <a:buNone/>
            </a:pPr>
            <a:r>
              <a:rPr lang="en-US" sz="2400" b="1" i="0" dirty="0">
                <a:effectLst/>
                <a:latin typeface="Arial" panose="020B0604020202020204" pitchFamily="34" charset="0"/>
              </a:rPr>
              <a:t>Linear List:</a:t>
            </a:r>
          </a:p>
          <a:p>
            <a:pPr algn="l">
              <a:buNone/>
            </a:pPr>
            <a:endParaRPr lang="en-US" sz="2400" b="1" dirty="0">
              <a:latin typeface="Arial" panose="020B0604020202020204" pitchFamily="34" charset="0"/>
            </a:endParaRPr>
          </a:p>
          <a:p>
            <a:pPr algn="l">
              <a:buNone/>
            </a:pPr>
            <a:r>
              <a:rPr lang="en-US" sz="2400" b="1" i="0" dirty="0">
                <a:effectLst/>
                <a:latin typeface="Arial" panose="020B0604020202020204" pitchFamily="34" charset="0"/>
              </a:rPr>
              <a:t> Advantages</a:t>
            </a:r>
          </a:p>
          <a:p>
            <a:pPr algn="l">
              <a:buFont typeface="Arial" panose="020B0604020202020204" pitchFamily="34" charset="0"/>
              <a:buChar char="•"/>
            </a:pPr>
            <a:r>
              <a:rPr lang="en-US" sz="2400" b="0" i="0" dirty="0">
                <a:effectLst/>
                <a:latin typeface="Arial" panose="020B0604020202020204" pitchFamily="34" charset="0"/>
              </a:rPr>
              <a:t>Simple to understand and implement</a:t>
            </a:r>
          </a:p>
          <a:p>
            <a:pPr algn="l">
              <a:buFont typeface="Arial" panose="020B0604020202020204" pitchFamily="34" charset="0"/>
              <a:buChar char="•"/>
            </a:pPr>
            <a:r>
              <a:rPr lang="en-US" sz="2400" b="0" i="0" dirty="0">
                <a:effectLst/>
                <a:latin typeface="Arial" panose="020B0604020202020204" pitchFamily="34" charset="0"/>
              </a:rPr>
              <a:t>Easy memory management</a:t>
            </a:r>
          </a:p>
          <a:p>
            <a:pPr algn="l">
              <a:buFont typeface="Arial" panose="020B0604020202020204" pitchFamily="34" charset="0"/>
              <a:buChar char="•"/>
            </a:pPr>
            <a:r>
              <a:rPr lang="en-US" sz="2400" b="0" i="0" dirty="0">
                <a:effectLst/>
                <a:latin typeface="Arial" panose="020B0604020202020204" pitchFamily="34" charset="0"/>
              </a:rPr>
              <a:t>Fast for sequential access</a:t>
            </a:r>
          </a:p>
          <a:p>
            <a:pPr algn="l">
              <a:buFont typeface="Arial" panose="020B0604020202020204" pitchFamily="34" charset="0"/>
              <a:buChar char="•"/>
            </a:pPr>
            <a:r>
              <a:rPr lang="en-US" sz="2400" b="0" i="0" dirty="0">
                <a:effectLst/>
                <a:latin typeface="Arial" panose="020B0604020202020204" pitchFamily="34" charset="0"/>
              </a:rPr>
              <a:t>Low memory overhead</a:t>
            </a:r>
          </a:p>
          <a:p>
            <a:pPr algn="l">
              <a:buFont typeface="Arial" panose="020B0604020202020204" pitchFamily="34" charset="0"/>
              <a:buChar char="•"/>
            </a:pPr>
            <a:endParaRPr lang="en-US" sz="2400" b="0" i="0" dirty="0">
              <a:effectLst/>
              <a:latin typeface="Arial" panose="020B0604020202020204" pitchFamily="34" charset="0"/>
            </a:endParaRPr>
          </a:p>
          <a:p>
            <a:r>
              <a:rPr lang="en-US" sz="2400" b="1" dirty="0">
                <a:latin typeface="Arial" panose="020B0604020202020204" pitchFamily="34" charset="0"/>
              </a:rPr>
              <a:t>Disadvantages</a:t>
            </a:r>
          </a:p>
          <a:p>
            <a:pPr>
              <a:buFont typeface="Arial" panose="020B0604020202020204" pitchFamily="34" charset="0"/>
              <a:buChar char="•"/>
            </a:pPr>
            <a:r>
              <a:rPr lang="en-US" sz="2400" dirty="0">
                <a:latin typeface="Arial" panose="020B0604020202020204" pitchFamily="34" charset="0"/>
              </a:rPr>
              <a:t>Slow search (O(n)) - must traverse sequentially</a:t>
            </a:r>
          </a:p>
          <a:p>
            <a:pPr>
              <a:buFont typeface="Arial" panose="020B0604020202020204" pitchFamily="34" charset="0"/>
              <a:buChar char="•"/>
            </a:pPr>
            <a:r>
              <a:rPr lang="en-US" sz="2400" dirty="0">
                <a:latin typeface="Arial" panose="020B0604020202020204" pitchFamily="34" charset="0"/>
              </a:rPr>
              <a:t>Slow deletion (O(n)) - requires finding then removing</a:t>
            </a:r>
          </a:p>
          <a:p>
            <a:pPr>
              <a:buFont typeface="Arial" panose="020B0604020202020204" pitchFamily="34" charset="0"/>
              <a:buChar char="•"/>
            </a:pPr>
            <a:r>
              <a:rPr lang="en-US" sz="2400" dirty="0">
                <a:latin typeface="Arial" panose="020B0604020202020204" pitchFamily="34" charset="0"/>
              </a:rPr>
              <a:t>Performance degrades with large directories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58F0BA37-8DB5-D813-6793-89D851E97F99}"/>
            </a:ext>
          </a:extLst>
        </p:cNvPr>
        <p:cNvGrpSpPr/>
        <p:nvPr/>
      </p:nvGrpSpPr>
      <p:grpSpPr>
        <a:xfrm>
          <a:off x="0" y="0"/>
          <a:ext cx="0" cy="0"/>
          <a:chOff x="0" y="0"/>
          <a:chExt cx="0" cy="0"/>
        </a:xfrm>
      </p:grpSpPr>
      <p:sp>
        <p:nvSpPr>
          <p:cNvPr id="129" name="Google Shape;129;p16">
            <a:extLst>
              <a:ext uri="{FF2B5EF4-FFF2-40B4-BE49-F238E27FC236}">
                <a16:creationId xmlns:a16="http://schemas.microsoft.com/office/drawing/2014/main" id="{BE6D5488-A1BE-704A-F662-A9BEC57232D8}"/>
              </a:ext>
            </a:extLst>
          </p:cNvPr>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30" name="Google Shape;130;p16">
            <a:extLst>
              <a:ext uri="{FF2B5EF4-FFF2-40B4-BE49-F238E27FC236}">
                <a16:creationId xmlns:a16="http://schemas.microsoft.com/office/drawing/2014/main" id="{157E7184-D743-6D06-9939-0BECD1B013A5}"/>
              </a:ext>
            </a:extLst>
          </p:cNvPr>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31" name="Google Shape;131;p16">
            <a:extLst>
              <a:ext uri="{FF2B5EF4-FFF2-40B4-BE49-F238E27FC236}">
                <a16:creationId xmlns:a16="http://schemas.microsoft.com/office/drawing/2014/main" id="{EF543612-FDAA-AE1A-7211-6B322836D447}"/>
              </a:ext>
            </a:extLst>
          </p:cNvPr>
          <p:cNvGrpSpPr/>
          <p:nvPr/>
        </p:nvGrpSpPr>
        <p:grpSpPr>
          <a:xfrm>
            <a:off x="0" y="1474475"/>
            <a:ext cx="2179450" cy="3049275"/>
            <a:chOff x="122" y="2322"/>
            <a:chExt cx="3588" cy="4802"/>
          </a:xfrm>
        </p:grpSpPr>
        <p:sp>
          <p:nvSpPr>
            <p:cNvPr id="132" name="Google Shape;132;p16">
              <a:extLst>
                <a:ext uri="{FF2B5EF4-FFF2-40B4-BE49-F238E27FC236}">
                  <a16:creationId xmlns:a16="http://schemas.microsoft.com/office/drawing/2014/main" id="{953FE60B-E12A-C47C-D714-E427E4648CC1}"/>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33" name="Google Shape;133;p16">
              <a:extLst>
                <a:ext uri="{FF2B5EF4-FFF2-40B4-BE49-F238E27FC236}">
                  <a16:creationId xmlns:a16="http://schemas.microsoft.com/office/drawing/2014/main" id="{7CC490B6-A02A-DFE2-F1BB-F09E101009BA}"/>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34" name="Google Shape;134;p16" descr="Image">
              <a:extLst>
                <a:ext uri="{FF2B5EF4-FFF2-40B4-BE49-F238E27FC236}">
                  <a16:creationId xmlns:a16="http://schemas.microsoft.com/office/drawing/2014/main" id="{8CEC8B67-C1DB-7D67-BA9B-F008C72E46E3}"/>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35" name="Google Shape;135;p16">
            <a:extLst>
              <a:ext uri="{FF2B5EF4-FFF2-40B4-BE49-F238E27FC236}">
                <a16:creationId xmlns:a16="http://schemas.microsoft.com/office/drawing/2014/main" id="{3754C2F0-CDF6-213D-E4CF-098BCC47EB48}"/>
              </a:ext>
            </a:extLst>
          </p:cNvPr>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36" name="Google Shape;136;p16">
            <a:extLst>
              <a:ext uri="{FF2B5EF4-FFF2-40B4-BE49-F238E27FC236}">
                <a16:creationId xmlns:a16="http://schemas.microsoft.com/office/drawing/2014/main" id="{CD37C59D-768C-7E1B-4F50-26FBA7AB302A}"/>
              </a:ext>
            </a:extLst>
          </p:cNvPr>
          <p:cNvSpPr txBox="1"/>
          <p:nvPr/>
        </p:nvSpPr>
        <p:spPr>
          <a:xfrm>
            <a:off x="2667000" y="13677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FE8EB5F2-267F-B5B2-3838-85D7F604691E}"/>
              </a:ext>
            </a:extLst>
          </p:cNvPr>
          <p:cNvSpPr txBox="1"/>
          <p:nvPr/>
        </p:nvSpPr>
        <p:spPr>
          <a:xfrm>
            <a:off x="3026664" y="539496"/>
            <a:ext cx="6793992" cy="3847207"/>
          </a:xfrm>
          <a:prstGeom prst="rect">
            <a:avLst/>
          </a:prstGeom>
          <a:noFill/>
        </p:spPr>
        <p:txBody>
          <a:bodyPr wrap="square">
            <a:spAutoFit/>
          </a:bodyPr>
          <a:lstStyle/>
          <a:p>
            <a:pPr algn="ctr">
              <a:buNone/>
            </a:pPr>
            <a:r>
              <a:rPr lang="en-US" sz="3200" b="1" dirty="0"/>
              <a:t>Hash Table</a:t>
            </a:r>
          </a:p>
          <a:p>
            <a:pPr algn="ctr">
              <a:buNone/>
            </a:pPr>
            <a:endParaRPr lang="en-US" sz="3200" b="1" dirty="0"/>
          </a:p>
          <a:p>
            <a:pPr>
              <a:buFont typeface="Arial" panose="020B0604020202020204" pitchFamily="34" charset="0"/>
              <a:buChar char="•"/>
            </a:pPr>
            <a:r>
              <a:rPr lang="en-US" sz="1800" dirty="0"/>
              <a:t>A hash table stores data in the form of key–value pairs.</a:t>
            </a:r>
          </a:p>
          <a:p>
            <a:pPr>
              <a:buFont typeface="Arial" panose="020B0604020202020204" pitchFamily="34" charset="0"/>
              <a:buChar char="•"/>
            </a:pPr>
            <a:r>
              <a:rPr lang="en-US" sz="1800" dirty="0"/>
              <a:t>It uses a hash function to map keys to a specific memory location.</a:t>
            </a:r>
          </a:p>
          <a:p>
            <a:pPr>
              <a:buFont typeface="Arial" panose="020B0604020202020204" pitchFamily="34" charset="0"/>
              <a:buChar char="•"/>
            </a:pPr>
            <a:r>
              <a:rPr lang="en-US" sz="1800" dirty="0"/>
              <a:t>Hash tables provide fast access to data, usually in constant time O(1).</a:t>
            </a:r>
          </a:p>
          <a:p>
            <a:pPr>
              <a:buFont typeface="Arial" panose="020B0604020202020204" pitchFamily="34" charset="0"/>
              <a:buChar char="•"/>
            </a:pPr>
            <a:r>
              <a:rPr lang="en-US" sz="1800" dirty="0"/>
              <a:t>Collisions occur when multiple keys map to the same location.</a:t>
            </a:r>
          </a:p>
          <a:p>
            <a:pPr>
              <a:buFont typeface="Arial" panose="020B0604020202020204" pitchFamily="34" charset="0"/>
              <a:buChar char="•"/>
            </a:pPr>
            <a:r>
              <a:rPr lang="en-US" sz="1800" dirty="0"/>
              <a:t>Collision handling techniques include chaining and open addressing.</a:t>
            </a:r>
          </a:p>
          <a:p>
            <a:pPr>
              <a:buFont typeface="Arial" panose="020B0604020202020204" pitchFamily="34" charset="0"/>
              <a:buChar char="•"/>
            </a:pPr>
            <a:r>
              <a:rPr lang="en-US" sz="1800" dirty="0"/>
              <a:t>In operating systems, hash tables are used for page tables, file indexing, process lookup, and symbol tables.</a:t>
            </a:r>
          </a:p>
        </p:txBody>
      </p:sp>
      <p:pic>
        <p:nvPicPr>
          <p:cNvPr id="4" name="Picture 3">
            <a:extLst>
              <a:ext uri="{FF2B5EF4-FFF2-40B4-BE49-F238E27FC236}">
                <a16:creationId xmlns:a16="http://schemas.microsoft.com/office/drawing/2014/main" id="{2796A213-B34F-6693-F2F8-F17FFD3C14B5}"/>
              </a:ext>
            </a:extLst>
          </p:cNvPr>
          <p:cNvPicPr>
            <a:picLocks noChangeAspect="1"/>
          </p:cNvPicPr>
          <p:nvPr/>
        </p:nvPicPr>
        <p:blipFill>
          <a:blip r:embed="rId4"/>
          <a:stretch>
            <a:fillRect/>
          </a:stretch>
        </p:blipFill>
        <p:spPr>
          <a:xfrm>
            <a:off x="2395729" y="4386704"/>
            <a:ext cx="8604504" cy="2206120"/>
          </a:xfrm>
          <a:prstGeom prst="rect">
            <a:avLst/>
          </a:prstGeom>
        </p:spPr>
      </p:pic>
    </p:spTree>
    <p:extLst>
      <p:ext uri="{BB962C8B-B14F-4D97-AF65-F5344CB8AC3E}">
        <p14:creationId xmlns:p14="http://schemas.microsoft.com/office/powerpoint/2010/main" val="2574236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a:extLst>
            <a:ext uri="{FF2B5EF4-FFF2-40B4-BE49-F238E27FC236}">
              <a16:creationId xmlns:a16="http://schemas.microsoft.com/office/drawing/2014/main" id="{56573615-B3B7-F15D-935E-032FA3E447F5}"/>
            </a:ext>
          </a:extLst>
        </p:cNvPr>
        <p:cNvGrpSpPr/>
        <p:nvPr/>
      </p:nvGrpSpPr>
      <p:grpSpPr>
        <a:xfrm>
          <a:off x="0" y="0"/>
          <a:ext cx="0" cy="0"/>
          <a:chOff x="0" y="0"/>
          <a:chExt cx="0" cy="0"/>
        </a:xfrm>
      </p:grpSpPr>
      <p:sp>
        <p:nvSpPr>
          <p:cNvPr id="129" name="Google Shape;129;p16">
            <a:extLst>
              <a:ext uri="{FF2B5EF4-FFF2-40B4-BE49-F238E27FC236}">
                <a16:creationId xmlns:a16="http://schemas.microsoft.com/office/drawing/2014/main" id="{F61A2ACE-8A3B-F109-EF2B-0519C94A0B84}"/>
              </a:ext>
            </a:extLst>
          </p:cNvPr>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30" name="Google Shape;130;p16">
            <a:extLst>
              <a:ext uri="{FF2B5EF4-FFF2-40B4-BE49-F238E27FC236}">
                <a16:creationId xmlns:a16="http://schemas.microsoft.com/office/drawing/2014/main" id="{0BE82CAC-C5BB-B0A2-FB21-2F72D022F28D}"/>
              </a:ext>
            </a:extLst>
          </p:cNvPr>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31" name="Google Shape;131;p16">
            <a:extLst>
              <a:ext uri="{FF2B5EF4-FFF2-40B4-BE49-F238E27FC236}">
                <a16:creationId xmlns:a16="http://schemas.microsoft.com/office/drawing/2014/main" id="{405C0213-3C9B-68EE-B966-ABEB1B9B8297}"/>
              </a:ext>
            </a:extLst>
          </p:cNvPr>
          <p:cNvGrpSpPr/>
          <p:nvPr/>
        </p:nvGrpSpPr>
        <p:grpSpPr>
          <a:xfrm>
            <a:off x="0" y="1474475"/>
            <a:ext cx="2179450" cy="3049275"/>
            <a:chOff x="122" y="2322"/>
            <a:chExt cx="3588" cy="4802"/>
          </a:xfrm>
        </p:grpSpPr>
        <p:sp>
          <p:nvSpPr>
            <p:cNvPr id="132" name="Google Shape;132;p16">
              <a:extLst>
                <a:ext uri="{FF2B5EF4-FFF2-40B4-BE49-F238E27FC236}">
                  <a16:creationId xmlns:a16="http://schemas.microsoft.com/office/drawing/2014/main" id="{125EBFA5-5173-308E-745C-B421ED28B802}"/>
                </a:ext>
              </a:extLst>
            </p:cNvPr>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33" name="Google Shape;133;p16">
              <a:extLst>
                <a:ext uri="{FF2B5EF4-FFF2-40B4-BE49-F238E27FC236}">
                  <a16:creationId xmlns:a16="http://schemas.microsoft.com/office/drawing/2014/main" id="{FBE2AF6D-09EA-69DE-4111-B8590348B343}"/>
                </a:ext>
              </a:extLst>
            </p:cNvPr>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34" name="Google Shape;134;p16" descr="Image">
              <a:extLst>
                <a:ext uri="{FF2B5EF4-FFF2-40B4-BE49-F238E27FC236}">
                  <a16:creationId xmlns:a16="http://schemas.microsoft.com/office/drawing/2014/main" id="{F910697D-59D1-8991-4871-601F88318800}"/>
                </a:ext>
              </a:extLst>
            </p:cNvPr>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35" name="Google Shape;135;p16">
            <a:extLst>
              <a:ext uri="{FF2B5EF4-FFF2-40B4-BE49-F238E27FC236}">
                <a16:creationId xmlns:a16="http://schemas.microsoft.com/office/drawing/2014/main" id="{DA82915A-C336-BFDA-FC2C-44EBFED54607}"/>
              </a:ext>
            </a:extLst>
          </p:cNvPr>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36" name="Google Shape;136;p16">
            <a:extLst>
              <a:ext uri="{FF2B5EF4-FFF2-40B4-BE49-F238E27FC236}">
                <a16:creationId xmlns:a16="http://schemas.microsoft.com/office/drawing/2014/main" id="{1DF72DD8-5111-56AF-A518-20EFB408E921}"/>
              </a:ext>
            </a:extLst>
          </p:cNvPr>
          <p:cNvSpPr txBox="1"/>
          <p:nvPr/>
        </p:nvSpPr>
        <p:spPr>
          <a:xfrm>
            <a:off x="2667000" y="13677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AF32A547-E5C3-336E-8C04-BF7E5CB85DF5}"/>
              </a:ext>
            </a:extLst>
          </p:cNvPr>
          <p:cNvSpPr txBox="1"/>
          <p:nvPr/>
        </p:nvSpPr>
        <p:spPr>
          <a:xfrm>
            <a:off x="3026664" y="768096"/>
            <a:ext cx="6327648" cy="4524315"/>
          </a:xfrm>
          <a:prstGeom prst="rect">
            <a:avLst/>
          </a:prstGeom>
          <a:noFill/>
        </p:spPr>
        <p:txBody>
          <a:bodyPr wrap="square">
            <a:spAutoFit/>
          </a:bodyPr>
          <a:lstStyle/>
          <a:p>
            <a:pPr algn="l">
              <a:buNone/>
            </a:pPr>
            <a:r>
              <a:rPr lang="en-US" sz="2400" b="1" i="0" dirty="0">
                <a:effectLst/>
                <a:latin typeface="Arial" panose="020B0604020202020204" pitchFamily="34" charset="0"/>
              </a:rPr>
              <a:t>HASH TABLE</a:t>
            </a:r>
          </a:p>
          <a:p>
            <a:pPr algn="l">
              <a:buNone/>
            </a:pPr>
            <a:endParaRPr lang="en-US" sz="2400" b="1" dirty="0">
              <a:latin typeface="Arial" panose="020B0604020202020204" pitchFamily="34" charset="0"/>
            </a:endParaRPr>
          </a:p>
          <a:p>
            <a:pPr algn="l">
              <a:buNone/>
            </a:pPr>
            <a:r>
              <a:rPr lang="en-US" sz="2400" b="1" i="0" dirty="0">
                <a:effectLst/>
                <a:latin typeface="Arial" panose="020B0604020202020204" pitchFamily="34" charset="0"/>
              </a:rPr>
              <a:t>Advantages</a:t>
            </a:r>
          </a:p>
          <a:p>
            <a:pPr algn="l">
              <a:buFont typeface="Arial" panose="020B0604020202020204" pitchFamily="34" charset="0"/>
              <a:buChar char="•"/>
            </a:pPr>
            <a:r>
              <a:rPr lang="en-US" sz="2400" b="0" i="0" dirty="0">
                <a:effectLst/>
                <a:latin typeface="Arial" panose="020B0604020202020204" pitchFamily="34" charset="0"/>
              </a:rPr>
              <a:t>Fast search O(1) average case</a:t>
            </a:r>
          </a:p>
          <a:p>
            <a:pPr algn="l">
              <a:buFont typeface="Arial" panose="020B0604020202020204" pitchFamily="34" charset="0"/>
              <a:buChar char="•"/>
            </a:pPr>
            <a:r>
              <a:rPr lang="en-US" sz="2400" b="0" i="0" dirty="0">
                <a:effectLst/>
                <a:latin typeface="Arial" panose="020B0604020202020204" pitchFamily="34" charset="0"/>
              </a:rPr>
              <a:t>Fast insertion O(1) with good hash function</a:t>
            </a:r>
          </a:p>
          <a:p>
            <a:pPr algn="l">
              <a:buFont typeface="Arial" panose="020B0604020202020204" pitchFamily="34" charset="0"/>
              <a:buChar char="•"/>
            </a:pPr>
            <a:r>
              <a:rPr lang="en-US" sz="2400" b="0" i="0" dirty="0">
                <a:effectLst/>
                <a:latin typeface="Arial" panose="020B0604020202020204" pitchFamily="34" charset="0"/>
              </a:rPr>
              <a:t>Efficient for large directories</a:t>
            </a:r>
          </a:p>
          <a:p>
            <a:pPr algn="l">
              <a:buFont typeface="Arial" panose="020B0604020202020204" pitchFamily="34" charset="0"/>
              <a:buChar char="•"/>
            </a:pPr>
            <a:r>
              <a:rPr lang="en-US" sz="2400" b="0" i="0" dirty="0">
                <a:effectLst/>
                <a:latin typeface="Arial" panose="020B0604020202020204" pitchFamily="34" charset="0"/>
              </a:rPr>
              <a:t>Highly scalable performance</a:t>
            </a:r>
          </a:p>
          <a:p>
            <a:pPr algn="l"/>
            <a:endParaRPr lang="en-US" sz="2400" b="0" i="0" dirty="0">
              <a:effectLst/>
              <a:latin typeface="Arial" panose="020B0604020202020204" pitchFamily="34" charset="0"/>
            </a:endParaRPr>
          </a:p>
          <a:p>
            <a:r>
              <a:rPr lang="en-US" sz="2400" b="1" dirty="0">
                <a:latin typeface="Arial" panose="020B0604020202020204" pitchFamily="34" charset="0"/>
              </a:rPr>
              <a:t>Disadvantages</a:t>
            </a:r>
          </a:p>
          <a:p>
            <a:pPr>
              <a:buFont typeface="Arial" panose="020B0604020202020204" pitchFamily="34" charset="0"/>
              <a:buChar char="•"/>
            </a:pPr>
            <a:r>
              <a:rPr lang="en-US" sz="2400" dirty="0">
                <a:latin typeface="Arial" panose="020B0604020202020204" pitchFamily="34" charset="0"/>
              </a:rPr>
              <a:t>Collision handling adds complexity</a:t>
            </a:r>
          </a:p>
          <a:p>
            <a:pPr>
              <a:buFont typeface="Arial" panose="020B0604020202020204" pitchFamily="34" charset="0"/>
              <a:buChar char="•"/>
            </a:pPr>
            <a:r>
              <a:rPr lang="en-US" sz="2400" dirty="0">
                <a:latin typeface="Arial" panose="020B0604020202020204" pitchFamily="34" charset="0"/>
              </a:rPr>
              <a:t>Higher memory overhead than linear lists</a:t>
            </a:r>
          </a:p>
          <a:p>
            <a:pPr>
              <a:buFont typeface="Arial" panose="020B0604020202020204" pitchFamily="34" charset="0"/>
              <a:buChar char="•"/>
            </a:pPr>
            <a:r>
              <a:rPr lang="en-US" sz="2400" dirty="0">
                <a:latin typeface="Arial" panose="020B0604020202020204" pitchFamily="34" charset="0"/>
              </a:rPr>
              <a:t>Hash function design is critical</a:t>
            </a:r>
          </a:p>
        </p:txBody>
      </p:sp>
    </p:spTree>
    <p:extLst>
      <p:ext uri="{BB962C8B-B14F-4D97-AF65-F5344CB8AC3E}">
        <p14:creationId xmlns:p14="http://schemas.microsoft.com/office/powerpoint/2010/main" val="1654420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b3c294deec_0_23"/>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45" name="Google Shape;145;g3b3c294deec_0_23"/>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46" name="Google Shape;146;g3b3c294deec_0_23"/>
          <p:cNvGrpSpPr/>
          <p:nvPr/>
        </p:nvGrpSpPr>
        <p:grpSpPr>
          <a:xfrm>
            <a:off x="0" y="1474475"/>
            <a:ext cx="2179450" cy="3049275"/>
            <a:chOff x="122" y="2322"/>
            <a:chExt cx="3588" cy="4802"/>
          </a:xfrm>
        </p:grpSpPr>
        <p:sp>
          <p:nvSpPr>
            <p:cNvPr id="147" name="Google Shape;147;g3b3c294deec_0_23"/>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48" name="Google Shape;148;g3b3c294deec_0_23"/>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49" name="Google Shape;149;g3b3c294deec_0_23"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50" name="Google Shape;150;g3b3c294deec_0_23"/>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51" name="Google Shape;151;g3b3c294deec_0_23"/>
          <p:cNvSpPr txBox="1"/>
          <p:nvPr/>
        </p:nvSpPr>
        <p:spPr>
          <a:xfrm>
            <a:off x="2430375" y="12661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152" name="Google Shape;152;g3b3c294deec_0_23"/>
          <p:cNvSpPr txBox="1"/>
          <p:nvPr/>
        </p:nvSpPr>
        <p:spPr>
          <a:xfrm>
            <a:off x="3028407" y="374904"/>
            <a:ext cx="7057425"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3200" b="1" dirty="0">
                <a:latin typeface="Times New Roman"/>
                <a:ea typeface="Times New Roman"/>
                <a:cs typeface="Times New Roman"/>
                <a:sym typeface="Times New Roman"/>
              </a:rPr>
              <a:t>Real-World Applications</a:t>
            </a:r>
            <a:endParaRPr dirty="0"/>
          </a:p>
        </p:txBody>
      </p:sp>
      <p:sp>
        <p:nvSpPr>
          <p:cNvPr id="153" name="Google Shape;153;g3b3c294deec_0_23"/>
          <p:cNvSpPr txBox="1"/>
          <p:nvPr/>
        </p:nvSpPr>
        <p:spPr>
          <a:xfrm>
            <a:off x="2195700" y="1575225"/>
            <a:ext cx="9007500" cy="5663058"/>
          </a:xfrm>
          <a:prstGeom prst="rect">
            <a:avLst/>
          </a:prstGeom>
          <a:noFill/>
          <a:ln>
            <a:noFill/>
          </a:ln>
        </p:spPr>
        <p:txBody>
          <a:bodyPr spcFirstLastPara="1" wrap="square" lIns="91425" tIns="91425" rIns="91425" bIns="91425" anchor="t" anchorCtr="0">
            <a:spAutoFit/>
          </a:bodyPr>
          <a:lstStyle/>
          <a:p>
            <a:r>
              <a:rPr lang="en-US" sz="1800" b="1" dirty="0"/>
              <a:t>Real-World Applications of Linear List</a:t>
            </a:r>
          </a:p>
          <a:p>
            <a:r>
              <a:rPr lang="en-US" sz="1800" b="1" dirty="0"/>
              <a:t>Process Scheduling</a:t>
            </a:r>
            <a:r>
              <a:rPr lang="en-US" sz="1800" dirty="0"/>
              <a:t>: Operating systems use linear lists to maintain ready, waiting, and blocked process queues.</a:t>
            </a:r>
          </a:p>
          <a:p>
            <a:r>
              <a:rPr lang="en-US" sz="1800" b="1" dirty="0"/>
              <a:t>Music/Video Playlists</a:t>
            </a:r>
            <a:r>
              <a:rPr lang="en-US" sz="1800" dirty="0"/>
              <a:t>: Songs or videos are stored in sequence and played one after another.</a:t>
            </a:r>
          </a:p>
          <a:p>
            <a:r>
              <a:rPr lang="en-US" sz="1800" b="1" dirty="0"/>
              <a:t>Task Management</a:t>
            </a:r>
            <a:r>
              <a:rPr lang="en-US" sz="1800" dirty="0"/>
              <a:t>: To-do lists and job queues follow a linear order.</a:t>
            </a:r>
          </a:p>
          <a:p>
            <a:r>
              <a:rPr lang="en-US" sz="1800" b="1" dirty="0"/>
              <a:t>Undo/Redo Operations</a:t>
            </a:r>
            <a:r>
              <a:rPr lang="en-US" sz="1800" dirty="0"/>
              <a:t>: Text editors store actions in a linear list.</a:t>
            </a:r>
          </a:p>
          <a:p>
            <a:r>
              <a:rPr lang="en-US" sz="1800" b="1" dirty="0"/>
              <a:t>Memory Management</a:t>
            </a:r>
            <a:r>
              <a:rPr lang="en-US" sz="1800" dirty="0"/>
              <a:t>: Free memory blocks can be maintained in a linear list.</a:t>
            </a:r>
          </a:p>
          <a:p>
            <a:r>
              <a:rPr lang="en-US" sz="1800" b="1" dirty="0"/>
              <a:t>Railway Reservation Lists</a:t>
            </a:r>
            <a:r>
              <a:rPr lang="en-US" sz="1800" dirty="0"/>
              <a:t>: Passenger names are stored in an ordered list.</a:t>
            </a:r>
          </a:p>
          <a:p>
            <a:endParaRPr lang="en-US" sz="1800" dirty="0"/>
          </a:p>
          <a:p>
            <a:r>
              <a:rPr lang="en-US" sz="1800" b="1" dirty="0"/>
              <a:t>Real-World Applications of Hash Table</a:t>
            </a:r>
          </a:p>
          <a:p>
            <a:r>
              <a:rPr lang="en-US" sz="1800" b="1" dirty="0"/>
              <a:t>Database Indexing</a:t>
            </a:r>
            <a:r>
              <a:rPr lang="en-US" sz="1800" dirty="0"/>
              <a:t>: Used to quickly locate records using a key.</a:t>
            </a:r>
          </a:p>
          <a:p>
            <a:r>
              <a:rPr lang="en-US" sz="1800" b="1" dirty="0"/>
              <a:t>File Systems</a:t>
            </a:r>
            <a:r>
              <a:rPr lang="en-US" sz="1800" dirty="0"/>
              <a:t>: Hash tables help in fast file name lookup.</a:t>
            </a:r>
          </a:p>
          <a:p>
            <a:r>
              <a:rPr lang="en-US" sz="1800" b="1" dirty="0"/>
              <a:t>Password Authentication</a:t>
            </a:r>
            <a:r>
              <a:rPr lang="en-US" sz="1800" dirty="0"/>
              <a:t>: Passwords are stored and verified using hash functions.</a:t>
            </a:r>
          </a:p>
          <a:p>
            <a:r>
              <a:rPr lang="en-US" sz="1800" b="1" dirty="0"/>
              <a:t>Symbol Tables</a:t>
            </a:r>
            <a:r>
              <a:rPr lang="en-US" sz="1800" dirty="0"/>
              <a:t>: Compilers and operating systems use hash tables to store symbols.</a:t>
            </a:r>
          </a:p>
          <a:p>
            <a:r>
              <a:rPr lang="en-US" sz="1800" b="1" dirty="0"/>
              <a:t>Caching Systems</a:t>
            </a:r>
            <a:r>
              <a:rPr lang="en-US" sz="1800" dirty="0"/>
              <a:t>: Web browsers and operating systems use hash tables for quick cache access.</a:t>
            </a:r>
          </a:p>
          <a:p>
            <a:r>
              <a:rPr lang="en-US" sz="1800" b="1" dirty="0"/>
              <a:t>Routing Tables</a:t>
            </a:r>
            <a:r>
              <a:rPr lang="en-US" sz="1800" dirty="0"/>
              <a:t>: Network devices use hash tables for fast address lookup.</a:t>
            </a:r>
          </a:p>
          <a:p>
            <a:endParaRPr lang="en-US" sz="1600" dirty="0"/>
          </a:p>
          <a:p>
            <a:pPr marL="0" lvl="0" indent="0" algn="l" rtl="0">
              <a:spcBef>
                <a:spcPts val="0"/>
              </a:spcBef>
              <a:spcAft>
                <a:spcPts val="0"/>
              </a:spcAft>
              <a:buNone/>
            </a:pPr>
            <a:endParaRPr sz="16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60" name="Google Shape;160;p21"/>
          <p:cNvSpPr/>
          <p:nvPr/>
        </p:nvSpPr>
        <p:spPr>
          <a:xfrm flipH="1">
            <a:off x="11496000" y="1"/>
            <a:ext cx="257907"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61" name="Google Shape;161;p21"/>
          <p:cNvGrpSpPr/>
          <p:nvPr/>
        </p:nvGrpSpPr>
        <p:grpSpPr>
          <a:xfrm>
            <a:off x="0" y="1474475"/>
            <a:ext cx="2179450" cy="3049275"/>
            <a:chOff x="122" y="2322"/>
            <a:chExt cx="3588" cy="4802"/>
          </a:xfrm>
        </p:grpSpPr>
        <p:sp>
          <p:nvSpPr>
            <p:cNvPr id="162" name="Google Shape;162;p21"/>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63" name="Google Shape;163;p21"/>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64" name="Google Shape;164;p21"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65" name="Google Shape;165;p21"/>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66" name="Google Shape;166;p21"/>
          <p:cNvSpPr txBox="1"/>
          <p:nvPr/>
        </p:nvSpPr>
        <p:spPr>
          <a:xfrm>
            <a:off x="2667000" y="13677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167" name="Google Shape;167;p21"/>
          <p:cNvSpPr txBox="1"/>
          <p:nvPr/>
        </p:nvSpPr>
        <p:spPr>
          <a:xfrm>
            <a:off x="2742846" y="970980"/>
            <a:ext cx="70797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3200" b="1">
                <a:latin typeface="Times New Roman"/>
                <a:ea typeface="Times New Roman"/>
                <a:cs typeface="Times New Roman"/>
                <a:sym typeface="Times New Roman"/>
              </a:rPr>
              <a:t>Interactive Activity / Question</a:t>
            </a:r>
            <a:endParaRPr/>
          </a:p>
        </p:txBody>
      </p:sp>
      <p:sp>
        <p:nvSpPr>
          <p:cNvPr id="6" name="TextBox 5">
            <a:extLst>
              <a:ext uri="{FF2B5EF4-FFF2-40B4-BE49-F238E27FC236}">
                <a16:creationId xmlns:a16="http://schemas.microsoft.com/office/drawing/2014/main" id="{4FC535F6-34CF-A925-4D53-F610042B4B3D}"/>
              </a:ext>
            </a:extLst>
          </p:cNvPr>
          <p:cNvSpPr txBox="1"/>
          <p:nvPr/>
        </p:nvSpPr>
        <p:spPr>
          <a:xfrm>
            <a:off x="3026664" y="2048257"/>
            <a:ext cx="6795882" cy="3416320"/>
          </a:xfrm>
          <a:prstGeom prst="rect">
            <a:avLst/>
          </a:prstGeom>
          <a:noFill/>
        </p:spPr>
        <p:txBody>
          <a:bodyPr wrap="square">
            <a:spAutoFit/>
          </a:bodyPr>
          <a:lstStyle/>
          <a:p>
            <a:pPr marL="457200" indent="-457200">
              <a:buFont typeface="Arial" panose="020B0604020202020204" pitchFamily="34" charset="0"/>
              <a:buChar char="•"/>
            </a:pPr>
            <a:r>
              <a:rPr lang="en-US" sz="2400" dirty="0"/>
              <a:t>Why is a linear list preferred over a hash table for managing ready and waiting queues in an operating system? Explain with reasons. </a:t>
            </a:r>
          </a:p>
          <a:p>
            <a:endParaRPr lang="en-US" sz="2400" dirty="0"/>
          </a:p>
          <a:p>
            <a:pPr marL="342900" indent="-342900">
              <a:buFont typeface="Arial" panose="020B0604020202020204" pitchFamily="34" charset="0"/>
              <a:buChar char="•"/>
            </a:pPr>
            <a:r>
              <a:rPr lang="en-US" sz="2400" dirty="0"/>
              <a:t> If an operating system needs to quickly find a process using its process ID, which data structure would be more suitable: a linear list or a hash table? Justify your answer.</a:t>
            </a:r>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b3c294deec_0_0"/>
          <p:cNvSpPr/>
          <p:nvPr/>
        </p:nvSpPr>
        <p:spPr>
          <a:xfrm flipH="1">
            <a:off x="-24000" y="-2"/>
            <a:ext cx="20052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75" name="Google Shape;175;g3b3c294deec_0_0"/>
          <p:cNvSpPr/>
          <p:nvPr/>
        </p:nvSpPr>
        <p:spPr>
          <a:xfrm flipH="1">
            <a:off x="11495907" y="1"/>
            <a:ext cx="258000" cy="6858000"/>
          </a:xfrm>
          <a:prstGeom prst="rect">
            <a:avLst/>
          </a:prstGeom>
          <a:solidFill>
            <a:srgbClr val="F28E0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300"/>
              <a:buFont typeface="Arial"/>
              <a:buNone/>
            </a:pPr>
            <a:endParaRPr sz="3300" b="0" i="0" u="none" strike="noStrike" cap="none">
              <a:solidFill>
                <a:schemeClr val="dk1"/>
              </a:solidFill>
              <a:latin typeface="Calibri"/>
              <a:ea typeface="Calibri"/>
              <a:cs typeface="Calibri"/>
              <a:sym typeface="Calibri"/>
            </a:endParaRPr>
          </a:p>
        </p:txBody>
      </p:sp>
      <p:grpSp>
        <p:nvGrpSpPr>
          <p:cNvPr id="176" name="Google Shape;176;g3b3c294deec_0_0"/>
          <p:cNvGrpSpPr/>
          <p:nvPr/>
        </p:nvGrpSpPr>
        <p:grpSpPr>
          <a:xfrm>
            <a:off x="0" y="1474475"/>
            <a:ext cx="2179450" cy="3049275"/>
            <a:chOff x="122" y="2322"/>
            <a:chExt cx="3588" cy="4802"/>
          </a:xfrm>
        </p:grpSpPr>
        <p:sp>
          <p:nvSpPr>
            <p:cNvPr id="177" name="Google Shape;177;g3b3c294deec_0_0"/>
            <p:cNvSpPr/>
            <p:nvPr/>
          </p:nvSpPr>
          <p:spPr>
            <a:xfrm flipH="1">
              <a:off x="1010" y="2322"/>
              <a:ext cx="2700" cy="2400"/>
            </a:xfrm>
            <a:prstGeom prst="rect">
              <a:avLst/>
            </a:prstGeom>
            <a:solidFill>
              <a:schemeClr val="lt1"/>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sp>
          <p:nvSpPr>
            <p:cNvPr id="178" name="Google Shape;178;g3b3c294deec_0_0"/>
            <p:cNvSpPr/>
            <p:nvPr/>
          </p:nvSpPr>
          <p:spPr>
            <a:xfrm flipH="1">
              <a:off x="122" y="2624"/>
              <a:ext cx="3300" cy="4500"/>
            </a:xfrm>
            <a:prstGeom prst="rect">
              <a:avLst/>
            </a:prstGeom>
            <a:solidFill>
              <a:srgbClr val="585858"/>
            </a:solid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baseline="-25000">
                <a:solidFill>
                  <a:schemeClr val="dk1"/>
                </a:solidFill>
                <a:latin typeface="Calibri"/>
                <a:ea typeface="Calibri"/>
                <a:cs typeface="Calibri"/>
                <a:sym typeface="Calibri"/>
              </a:endParaRPr>
            </a:p>
          </p:txBody>
        </p:sp>
        <p:pic>
          <p:nvPicPr>
            <p:cNvPr id="179" name="Google Shape;179;g3b3c294deec_0_0" descr="Image"/>
            <p:cNvPicPr preferRelativeResize="0"/>
            <p:nvPr/>
          </p:nvPicPr>
          <p:blipFill rotWithShape="1">
            <a:blip r:embed="rId3">
              <a:alphaModFix/>
            </a:blip>
            <a:srcRect/>
            <a:stretch/>
          </p:blipFill>
          <p:spPr>
            <a:xfrm>
              <a:off x="987" y="3715"/>
              <a:ext cx="1683" cy="1805"/>
            </a:xfrm>
            <a:prstGeom prst="rect">
              <a:avLst/>
            </a:prstGeom>
            <a:noFill/>
            <a:ln>
              <a:noFill/>
            </a:ln>
          </p:spPr>
        </p:pic>
      </p:grpSp>
      <p:sp>
        <p:nvSpPr>
          <p:cNvPr id="180" name="Google Shape;180;g3b3c294deec_0_0"/>
          <p:cNvSpPr txBox="1"/>
          <p:nvPr/>
        </p:nvSpPr>
        <p:spPr>
          <a:xfrm>
            <a:off x="-11750" y="3689175"/>
            <a:ext cx="19167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IN" sz="1800" b="1" i="0" u="none" strike="noStrike" cap="none">
                <a:solidFill>
                  <a:schemeClr val="dk1"/>
                </a:solidFill>
                <a:latin typeface="Calibri"/>
                <a:ea typeface="Calibri"/>
                <a:cs typeface="Calibri"/>
                <a:sym typeface="Calibri"/>
              </a:rPr>
              <a:t>    </a:t>
            </a:r>
            <a:r>
              <a:rPr lang="en-IN" sz="1800" b="1" i="0" u="none" strike="noStrike" cap="none">
                <a:solidFill>
                  <a:schemeClr val="lt1"/>
                </a:solidFill>
                <a:latin typeface="Calibri"/>
                <a:ea typeface="Calibri"/>
                <a:cs typeface="Calibri"/>
                <a:sym typeface="Calibri"/>
              </a:rPr>
              <a:t>Dept of</a:t>
            </a:r>
            <a:r>
              <a:rPr lang="en-IN" sz="1800" b="1">
                <a:solidFill>
                  <a:schemeClr val="lt1"/>
                </a:solidFill>
                <a:latin typeface="Calibri"/>
                <a:ea typeface="Calibri"/>
                <a:cs typeface="Calibri"/>
                <a:sym typeface="Calibri"/>
              </a:rPr>
              <a:t> AI &amp; ML</a:t>
            </a:r>
            <a:endParaRPr sz="1400" b="1" i="0" u="none" strike="noStrike" cap="none">
              <a:solidFill>
                <a:srgbClr val="000000"/>
              </a:solidFill>
              <a:latin typeface="Arial"/>
              <a:ea typeface="Arial"/>
              <a:cs typeface="Arial"/>
              <a:sym typeface="Arial"/>
            </a:endParaRPr>
          </a:p>
        </p:txBody>
      </p:sp>
      <p:sp>
        <p:nvSpPr>
          <p:cNvPr id="181" name="Google Shape;181;g3b3c294deec_0_0"/>
          <p:cNvSpPr txBox="1"/>
          <p:nvPr/>
        </p:nvSpPr>
        <p:spPr>
          <a:xfrm>
            <a:off x="2667000" y="136775"/>
            <a:ext cx="85317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dk1"/>
              </a:solidFill>
              <a:latin typeface="Calibri"/>
              <a:ea typeface="Calibri"/>
              <a:cs typeface="Calibri"/>
              <a:sym typeface="Calibri"/>
            </a:endParaRPr>
          </a:p>
        </p:txBody>
      </p:sp>
      <p:sp>
        <p:nvSpPr>
          <p:cNvPr id="182" name="Google Shape;182;g3b3c294deec_0_0"/>
          <p:cNvSpPr txBox="1"/>
          <p:nvPr/>
        </p:nvSpPr>
        <p:spPr>
          <a:xfrm>
            <a:off x="3040596" y="2920805"/>
            <a:ext cx="7079700" cy="585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3200" b="1">
                <a:latin typeface="Times New Roman"/>
                <a:ea typeface="Times New Roman"/>
                <a:cs typeface="Times New Roman"/>
                <a:sym typeface="Times New Roman"/>
              </a:rPr>
              <a:t>Thank You</a:t>
            </a:r>
            <a:endParaRPr/>
          </a:p>
        </p:txBody>
      </p:sp>
    </p:spTree>
  </p:cSld>
  <p:clrMapOvr>
    <a:masterClrMapping/>
  </p:clrMapOvr>
</p:sld>
</file>

<file path=ppt/theme/theme1.xml><?xml version="1.0" encoding="utf-8"?>
<a:theme xmlns:a="http://schemas.openxmlformats.org/drawingml/2006/main" name="3_Custom Design">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773</Words>
  <Application>Microsoft Office PowerPoint</Application>
  <PresentationFormat>Widescreen</PresentationFormat>
  <Paragraphs>104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Times New Roman</vt:lpstr>
      <vt:lpstr>Calibri</vt:lpstr>
      <vt:lpstr>Poppins</vt:lpstr>
      <vt:lpstr>3_Custom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Principal aip</dc:creator>
  <cp:lastModifiedBy>Prarthana Kulkarni</cp:lastModifiedBy>
  <cp:revision>1</cp:revision>
  <dcterms:created xsi:type="dcterms:W3CDTF">2021-09-07T04:22:00Z</dcterms:created>
  <dcterms:modified xsi:type="dcterms:W3CDTF">2025-12-30T13:44:57Z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0398283ACE364599A240D38F3F474187_13</vt:lpwstr>
  </property>
  <property fmtid="{D5CDD505-2E9C-101B-9397-08002B2CF9AE}" pid="3" name="KSOProductBuildVer">
    <vt:lpwstr>1033-12.2.0.13489</vt:lpwstr>
  </property>
</Properties>
</file>